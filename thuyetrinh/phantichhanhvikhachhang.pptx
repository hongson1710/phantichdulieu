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64" r:id="rId6"/>
    <p:sldId id="258" r:id="rId7"/>
    <p:sldId id="259" r:id="rId8"/>
    <p:sldId id="260" r:id="rId9"/>
    <p:sldId id="261" r:id="rId10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856" autoAdjust="0"/>
    <p:restoredTop sz="94660"/>
  </p:normalViewPr>
  <p:slideViewPr>
    <p:cSldViewPr snapToGrid="0">
      <p:cViewPr varScale="1">
        <p:scale>
          <a:sx n="61" d="100"/>
          <a:sy n="61" d="100"/>
        </p:scale>
        <p:origin x="92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theme" Target="theme/theme1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viewProps" Target="viewProp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presProps" Target="presProps.xml" /><ns0:Relationship Id="rId5" Type="http://schemas.openxmlformats.org/officeDocument/2006/relationships/slide" Target="slides/slide4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tableStyles" Target="tableStyles.xml" /><ns0:Relationship Id="rId15" Type="http://schemas.openxmlformats.org/officeDocument/2006/relationships/slide" Target="slides/slide10.xml" /><ns0:Relationship Id="rId16" Type="http://schemas.openxmlformats.org/officeDocument/2006/relationships/slide" Target="slides/slide11.xml" /><ns0:Relationship Id="rId17" Type="http://schemas.openxmlformats.org/officeDocument/2006/relationships/slide" Target="slides/slide12.xml" /><ns0:Relationship Id="rId18" Type="http://schemas.openxmlformats.org/officeDocument/2006/relationships/slide" Target="slides/slide13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7F56-AA68-4790-9DD5-3FB1E7CEE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8CE9-D28A-4643-B1E6-9D22B3A77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CD89-83D6-440C-87C2-290B44BA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C8B6-8ABB-4ED0-A214-7437F1CC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2E8D-5177-41B6-97F6-80990B27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5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76A9-54C9-4488-9D4E-7A147FA6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04C-743C-4B07-9C65-32E186BD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1E58F-B7C6-447E-98A6-AFE9A1A4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E662-7B23-42F3-B55E-98095C9E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8C440-CB0A-4340-943D-45C7BFE9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41B-902E-4644-905C-0D03C3D0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A9DD7-CDC0-4298-A435-B7991E27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9E53-A4E4-4633-BA77-3209159F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6A2D-16C2-439F-9120-DEB0CC08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4366-2E6B-4253-8C56-84F76D4D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0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87B1-3DA5-408F-A266-C776F1AA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37050-A1DE-4805-B79A-58397F5B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4EC-4D51-465A-9EA9-13FDFCBAF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A1323-4C1C-4273-AE7B-0F2CEAFC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3CBC-2AF5-4885-9739-BD6FD09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9CED-E3CC-4B9A-8A36-D027D97C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8CD3-EF27-4782-AA7A-37491438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D37C-AA1D-47C0-B4DE-B5DCD389B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06E7-BFE5-4427-9479-F273A581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2E352-64FE-474B-88C1-1A2B4FC0A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EF552-D660-4FAF-A4D6-82343EB47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9D337-E5A3-47FB-BB05-194A4E3D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0CBE1-D6BE-43DF-9874-3934132F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AB2A7-765A-4E19-937A-175ACC75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AB5D-FE33-4861-B379-8A848E67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FCBBA-F703-4DDB-9696-D72BCE09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833E2-39B3-4536-BB66-F136479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852AE-88C9-41A7-B4B0-C2D6619C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1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CC0CE-0757-4ADE-92D5-01BAFFF0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F6219-283C-4D95-BBDC-ED89359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A51E-48BC-4F0A-8482-F7583948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1811-ECAE-40EE-AD6E-40AE2672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936B-927A-4237-AC44-A63D0B1B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C2B17-998E-4050-A42F-FB49BC64A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2C428-BF9C-49C9-9218-0DBF168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68147-D486-4004-B676-0973304A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CF51-AFC4-49CF-846C-9925DBCF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793D-C0CB-4C70-B3BC-40241DAB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E389E-9505-42B1-8CA3-4A337BFFF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A129E-BB70-4465-8558-2753CA7EF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5D34-FAD3-4FE8-B33D-0B0ECA3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1FD84-E0AA-43C5-A37F-702AB1E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2FB1B-F2B1-4467-B325-032DD4D2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5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EF16-81F4-4A45-AFF7-20CF9A8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5CE4-46F9-40D0-A49B-0623E799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9F1CF-387B-48DB-9646-9A95A934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396A-50DB-4715-AB2E-1E05DC18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25442-2C3D-443F-846A-BC7C4F52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CCD1-B921-4038-9FD3-622F5E36C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9AA10-56CA-4867-A0C7-E1F1F4CC4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D215-DC66-4A96-A261-382E999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C841-103E-41CF-B2B9-CF069B5E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1F941-EFE5-4989-A665-A135073C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DEA5-CD02-4C6C-BDB8-9A181AFE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5A557-6E36-44ED-8F42-AB1E485FB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0FA8-87E4-45CE-8551-7B8938186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820D-DB16-4293-A4A1-7FF49C09D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3FEA-12E4-43DE-AC19-663D6EC26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CH03_co_cau_hang_thanh_vien.png" /><ns0:Relationship Id="rId3" Type="http://schemas.openxmlformats.org/officeDocument/2006/relationships/image" Target="../media/CH05_chi_tieu_theo_hang.pn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CH07_so_ngay_va_chi_tieu.pn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CH08_hai_long_theo_hang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CH09_chi_tieu_theo_giam_gia.pn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CH10_ho_so_hanh_vi_theo_thanh_pho.pn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A13C-20FC-4946-BEB8-0D9E744A6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sz="4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ỜNG ĐẠI HỌC CNTT</a:t>
            </a:r>
            <a:b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KHOA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682F-425F-4E59-A47C-72FE32689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0819" y="4853318"/>
            <a:ext cx="4267200" cy="1655762"/>
          </a:xfrm>
        </p:spPr>
        <p:txBody>
          <a:bodyPr/>
          <a:lstStyle/>
          <a:p>
            <a:pPr algn="l"/>
            <a:r>
              <a:rPr lang="en-US"/>
              <a:t>Nhóm #12:</a:t>
            </a:r>
          </a:p>
          <a:p>
            <a:pPr algn="l"/>
            <a:r>
              <a:rPr lang="en-US"/>
              <a:t>	1. Họ và tên</a:t>
            </a:r>
          </a:p>
          <a:p>
            <a:pPr algn="l"/>
            <a:r>
              <a:rPr lang="en-US"/>
              <a:t>	2. Họ và tên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D2EC86-45F4-4831-B816-03E54AFB3F17}"/>
              </a:ext>
            </a:extLst>
          </p:cNvPr>
          <p:cNvSpPr txBox="1">
            <a:spLocks/>
          </p:cNvSpPr>
          <p:nvPr/>
        </p:nvSpPr>
        <p:spPr>
          <a:xfrm>
            <a:off x="1524000" y="29334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>
                <a:solidFill>
                  <a:srgbClr val="FF0000"/>
                </a:solidFill>
              </a:rPr>
              <a:t>CÁC FRAMEWORK HỖ TRỢ</a:t>
            </a:r>
            <a:br>
              <a:rPr lang="en-US" sz="3500">
                <a:solidFill>
                  <a:srgbClr val="FF0000"/>
                </a:solidFill>
              </a:rPr>
            </a:br>
            <a:r>
              <a:rPr lang="en-US" sz="3500">
                <a:solidFill>
                  <a:srgbClr val="FF0000"/>
                </a:solidFill>
              </a:rPr>
              <a:t>PHÂN TÍCH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89062-54BA-00AB-97C4-E86C384BD747}"/>
              </a:ext>
            </a:extLst>
          </p:cNvPr>
          <p:cNvSpPr txBox="1"/>
          <p:nvPr/>
        </p:nvSpPr>
        <p:spPr>
          <a:xfrm>
            <a:off x="632061" y="4589207"/>
            <a:ext cx="4033521" cy="178510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Chú ý: </a:t>
            </a:r>
          </a:p>
          <a:p>
            <a:r>
              <a:rPr lang="en-US" sz="2200" b="1">
                <a:solidFill>
                  <a:srgbClr val="FF0000"/>
                </a:solidFill>
              </a:rPr>
              <a:t>Đây không phải là mẫu bắt buộc.</a:t>
            </a:r>
          </a:p>
          <a:p>
            <a:r>
              <a:rPr lang="en-US" sz="2200" b="1">
                <a:solidFill>
                  <a:srgbClr val="FF0000"/>
                </a:solidFill>
              </a:rPr>
              <a:t>Anh/chị phải: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Tùy chỉnh theo sở thích.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Thiết kế hiệu ứng đẹp.</a:t>
            </a:r>
            <a:endParaRPr lang="vi-VN" sz="2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0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7A8E-5169-CC29-596F-F41D2365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Giới thiệu nhóm (nếu có, không bắt buộc)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B76048-C583-B966-EEF8-236EC96E7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635324"/>
              </p:ext>
            </p:extLst>
          </p:nvPr>
        </p:nvGraphicFramePr>
        <p:xfrm>
          <a:off x="5283200" y="2590800"/>
          <a:ext cx="1625600" cy="308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08403748"/>
                    </a:ext>
                  </a:extLst>
                </a:gridCol>
              </a:tblGrid>
              <a:tr h="2046899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791546"/>
                  </a:ext>
                </a:extLst>
              </a:tr>
              <a:tr h="1043020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Mã SV</a:t>
                      </a:r>
                    </a:p>
                    <a:p>
                      <a:pPr algn="ctr"/>
                      <a:r>
                        <a:rPr lang="en-US" sz="2100"/>
                        <a:t>Họ và tên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318034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EEE9A413-8320-E11B-3AD0-7F5869441C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209222"/>
              </p:ext>
            </p:extLst>
          </p:nvPr>
        </p:nvGraphicFramePr>
        <p:xfrm>
          <a:off x="1767840" y="2590799"/>
          <a:ext cx="1625600" cy="308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08403748"/>
                    </a:ext>
                  </a:extLst>
                </a:gridCol>
              </a:tblGrid>
              <a:tr h="2046899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791546"/>
                  </a:ext>
                </a:extLst>
              </a:tr>
              <a:tr h="1043020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Mã SV</a:t>
                      </a:r>
                    </a:p>
                    <a:p>
                      <a:pPr algn="ctr"/>
                      <a:r>
                        <a:rPr lang="en-US" sz="2100"/>
                        <a:t>Họ và tên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318034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536C77B-DD2C-C493-9919-C431F2C696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201722"/>
              </p:ext>
            </p:extLst>
          </p:nvPr>
        </p:nvGraphicFramePr>
        <p:xfrm>
          <a:off x="8798560" y="2590799"/>
          <a:ext cx="1625600" cy="308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08403748"/>
                    </a:ext>
                  </a:extLst>
                </a:gridCol>
              </a:tblGrid>
              <a:tr h="2046899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791546"/>
                  </a:ext>
                </a:extLst>
              </a:tr>
              <a:tr h="1043020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Mã SV</a:t>
                      </a:r>
                    </a:p>
                    <a:p>
                      <a:pPr algn="ctr"/>
                      <a:r>
                        <a:rPr lang="en-US" sz="2100"/>
                        <a:t>Họ và tên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318034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4D53AD4-4EE1-90CF-6789-8116E9355CF9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Giới thiệu nhóm (Hệ online bắt buộc)</a:t>
            </a:r>
          </a:p>
        </p:txBody>
      </p:sp>
    </p:spTree>
    <p:extLst>
      <p:ext uri="{BB962C8B-B14F-4D97-AF65-F5344CB8AC3E}">
        <p14:creationId xmlns:p14="http://schemas.microsoft.com/office/powerpoint/2010/main" val="24705890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1. Giới thiệu tổng quan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sp>
        <p:nvSpPr>
          <p:cNvPr id="4" name="Purpose"/>
          <p:cNvSpPr txBox="1"/>
          <p:nvPr/>
        </p:nvSpPr>
        <p:spPr>
          <a:xfrm>
            <a:off x="749808" y="129844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600" b="1">
                <a:solidFill>
                  <a:srgbClr val="18212B"/>
                </a:solidFill>
                <a:latin typeface="Calibri"/>
              </a:rPr>
              <a:t>Khám phá hành vi khách hàng thương mại điện tử từ 350 hồ sơ</a:t>
            </a:r>
            <a:endParaRPr lang="vi-VN"/>
          </a:p>
        </p:txBody>
      </p:sp>
      <p:sp>
        <p:nvSpPr>
          <p:cNvPr id="5" name="Question 1"/>
          <p:cNvSpPr txBox="1"/>
          <p:nvPr/>
        </p:nvSpPr>
        <p:spPr>
          <a:xfrm>
            <a:off x="868680" y="1993392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1. Phân khúc: khách hàng chi tiêu ra sao và lần mua gần nhất cách bao lâu?</a:t>
            </a:r>
            <a:endParaRPr lang="vi-VN"/>
          </a:p>
        </p:txBody>
      </p:sp>
      <p:sp>
        <p:nvSpPr>
          <p:cNvPr id="6" name="Question 2"/>
          <p:cNvSpPr txBox="1"/>
          <p:nvPr/>
        </p:nvSpPr>
        <p:spPr>
          <a:xfrm>
            <a:off x="868680" y="2670048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2. Hài lòng: các hạng thành viên khác nhau như thế nào?</a:t>
            </a:r>
            <a:endParaRPr lang="vi-VN"/>
          </a:p>
        </p:txBody>
      </p:sp>
      <p:sp>
        <p:nvSpPr>
          <p:cNvPr id="7" name="Question 3"/>
          <p:cNvSpPr txBox="1"/>
          <p:nvPr/>
        </p:nvSpPr>
        <p:spPr>
          <a:xfrm>
            <a:off x="868680" y="3346704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3. Khuyến mãi: nhóm dùng giảm giá có chi tiêu và số sản phẩm khác biệt không?</a:t>
            </a:r>
            <a:endParaRPr lang="vi-VN"/>
          </a:p>
        </p:txBody>
      </p:sp>
      <p:sp>
        <p:nvSpPr>
          <p:cNvPr id="8" name="Question 4"/>
          <p:cNvSpPr txBox="1"/>
          <p:nvPr/>
        </p:nvSpPr>
        <p:spPr>
          <a:xfrm>
            <a:off x="868680" y="4023360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4. Giữ chân: nhóm nào nên ưu tiên tái kích hoạt?</a:t>
            </a:r>
            <a:endParaRPr lang="vi-VN"/>
          </a:p>
        </p:txBody>
      </p:sp>
      <p:sp>
        <p:nvSpPr>
          <p:cNvPr id="9" name="Question 5"/>
          <p:cNvSpPr txBox="1"/>
          <p:nvPr/>
        </p:nvSpPr>
        <p:spPr>
          <a:xfrm>
            <a:off x="868680" y="4700016"/>
            <a:ext cx="10469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5. Thành phố: hành vi mua và mức hài lòng khác nhau ra sao?</a:t>
            </a:r>
            <a:endParaRPr lang="vi-VN"/>
          </a:p>
        </p:txBody>
      </p:sp>
      <p:sp>
        <p:nvSpPr>
          <p:cNvPr id="10" name="Agenda"/>
          <p:cNvSpPr txBox="1"/>
          <p:nvPr/>
        </p:nvSpPr>
        <p:spPr>
          <a:xfrm>
            <a:off x="868680" y="5852160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600">
                <a:solidFill>
                  <a:srgbClr val="4B5563"/>
                </a:solidFill>
                <a:latin typeface="Calibri"/>
              </a:rPr>
              <a:t>Dữ liệu → Phương pháp → Phân tích thăm dò → Kết quả → Demo</a:t>
            </a:r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2. Mô tả bộ dữ liệu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sp>
        <p:nvSpPr>
          <p:cNvPr id="4" name="Dataset size"/>
          <p:cNvSpPr txBox="1"/>
          <p:nvPr/>
        </p:nvSpPr>
        <p:spPr>
          <a:xfrm>
            <a:off x="749808" y="126187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500" b="1">
                <a:solidFill>
                  <a:srgbClr val="18212B"/>
                </a:solidFill>
                <a:latin typeface="Calibri"/>
              </a:rPr>
              <a:t>350 khách hàng  |  11 cột dữ liệu  |  1 dòng/khách</a:t>
            </a:r>
            <a:endParaRPr lang="vi-VN"/>
          </a:p>
        </p:txBody>
      </p:sp>
      <p:sp>
        <p:nvSpPr>
          <p:cNvPr id="5" name="Nhân khẩu học"/>
          <p:cNvSpPr txBox="1"/>
          <p:nvPr/>
        </p:nvSpPr>
        <p:spPr>
          <a:xfrm>
            <a:off x="868680" y="20574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100" b="1">
                <a:solidFill>
                  <a:srgbClr val="18212B"/>
                </a:solidFill>
                <a:latin typeface="Calibri"/>
              </a:rPr>
              <a:t>Nhân khẩu học</a:t>
            </a:r>
            <a:endParaRPr lang="vi-VN"/>
          </a:p>
        </p:txBody>
      </p:sp>
      <p:sp>
        <p:nvSpPr>
          <p:cNvPr id="6" name="Nhân khẩu học columns"/>
          <p:cNvSpPr txBox="1"/>
          <p:nvPr/>
        </p:nvSpPr>
        <p:spPr>
          <a:xfrm>
            <a:off x="3703320" y="2057400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Age, Gender, City</a:t>
            </a:r>
            <a:endParaRPr lang="vi-VN"/>
          </a:p>
        </p:txBody>
      </p:sp>
      <p:sp>
        <p:nvSpPr>
          <p:cNvPr id="7" name="Hành vi mua"/>
          <p:cNvSpPr txBox="1"/>
          <p:nvPr/>
        </p:nvSpPr>
        <p:spPr>
          <a:xfrm>
            <a:off x="868680" y="28803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100" b="1">
                <a:solidFill>
                  <a:srgbClr val="18212B"/>
                </a:solidFill>
                <a:latin typeface="Calibri"/>
              </a:rPr>
              <a:t>Hành vi mua</a:t>
            </a:r>
            <a:endParaRPr lang="vi-VN"/>
          </a:p>
        </p:txBody>
      </p:sp>
      <p:sp>
        <p:nvSpPr>
          <p:cNvPr id="8" name="Hành vi mua columns"/>
          <p:cNvSpPr txBox="1"/>
          <p:nvPr/>
        </p:nvSpPr>
        <p:spPr>
          <a:xfrm>
            <a:off x="3703320" y="2880360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Total Spend, Items Purchased, Discount Applied, Days Since Last Purchase</a:t>
            </a:r>
            <a:endParaRPr lang="vi-VN"/>
          </a:p>
        </p:txBody>
      </p:sp>
      <p:sp>
        <p:nvSpPr>
          <p:cNvPr id="9" name="Quan hệ và đánh giá"/>
          <p:cNvSpPr txBox="1"/>
          <p:nvPr/>
        </p:nvSpPr>
        <p:spPr>
          <a:xfrm>
            <a:off x="868680" y="37033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100" b="1">
                <a:solidFill>
                  <a:srgbClr val="18212B"/>
                </a:solidFill>
                <a:latin typeface="Calibri"/>
              </a:rPr>
              <a:t>Quan hệ và đánh giá</a:t>
            </a:r>
            <a:endParaRPr lang="vi-VN"/>
          </a:p>
        </p:txBody>
      </p:sp>
      <p:sp>
        <p:nvSpPr>
          <p:cNvPr id="10" name="Quan hệ và đánh giá columns"/>
          <p:cNvSpPr txBox="1"/>
          <p:nvPr/>
        </p:nvSpPr>
        <p:spPr>
          <a:xfrm>
            <a:off x="3703320" y="3703320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Membership Type, Average Rating, Satisfaction Level</a:t>
            </a:r>
            <a:endParaRPr lang="vi-VN"/>
          </a:p>
        </p:txBody>
      </p:sp>
      <p:sp>
        <p:nvSpPr>
          <p:cNvPr id="11" name="Data quality"/>
          <p:cNvSpPr txBox="1"/>
          <p:nvPr/>
        </p:nvSpPr>
        <p:spPr>
          <a:xfrm>
            <a:off x="868680" y="482803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2 giá trị Satisfaction Level thiếu; các phân tích khác vẫn giữ hai khách này.</a:t>
            </a:r>
            <a:endParaRPr lang="vi-VN"/>
          </a:p>
        </p:txBody>
      </p:sp>
      <p:sp>
        <p:nvSpPr>
          <p:cNvPr id="12" name="Data source"/>
          <p:cNvSpPr txBox="1"/>
          <p:nvPr/>
        </p:nvSpPr>
        <p:spPr>
          <a:xfrm>
            <a:off x="868680" y="5815584"/>
            <a:ext cx="10378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500">
                <a:solidFill>
                  <a:srgbClr val="4B5563"/>
                </a:solidFill>
                <a:latin typeface="Calibri"/>
              </a:rPr>
              <a:t>Nguồn: data/E-commerce_Customer_Behavior.csv. Total Spend chưa xác định đơn vị tiền tệ.</a:t>
            </a:r>
            <a:endParaRPr lang="vi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3. Phương pháp phân tích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sp>
        <p:nvSpPr>
          <p:cNvPr id="4" name="Step 01"/>
          <p:cNvSpPr txBox="1"/>
          <p:nvPr/>
        </p:nvSpPr>
        <p:spPr>
          <a:xfrm>
            <a:off x="786384" y="1344168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500" b="1">
                <a:solidFill>
                  <a:srgbClr val="D9534F"/>
                </a:solidFill>
                <a:latin typeface="Calibri"/>
              </a:rPr>
              <a:t>01</a:t>
            </a:r>
            <a:endParaRPr lang="vi-VN"/>
          </a:p>
        </p:txBody>
      </p:sp>
      <p:sp>
        <p:nvSpPr>
          <p:cNvPr id="5" name="Step title 01"/>
          <p:cNvSpPr txBox="1"/>
          <p:nvPr/>
        </p:nvSpPr>
        <p:spPr>
          <a:xfrm>
            <a:off x="1554480" y="1344168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200" b="1">
                <a:solidFill>
                  <a:srgbClr val="18212B"/>
                </a:solidFill>
                <a:latin typeface="Calibri"/>
              </a:rPr>
              <a:t>Nạp và làm sạch</a:t>
            </a:r>
            <a:endParaRPr lang="vi-VN"/>
          </a:p>
        </p:txBody>
      </p:sp>
      <p:sp>
        <p:nvSpPr>
          <p:cNvPr id="6" name="Step detail 01"/>
          <p:cNvSpPr txBox="1"/>
          <p:nvPr/>
        </p:nvSpPr>
        <p:spPr>
          <a:xfrm>
            <a:off x="4617720" y="1344168"/>
            <a:ext cx="6729984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Kiểm tra trùng, thiếu, kiểu dữ liệu và phạm vi hợp lệ.</a:t>
            </a:r>
            <a:endParaRPr lang="vi-VN"/>
          </a:p>
        </p:txBody>
      </p:sp>
      <p:sp>
        <p:nvSpPr>
          <p:cNvPr id="7" name="Step 02"/>
          <p:cNvSpPr txBox="1"/>
          <p:nvPr/>
        </p:nvSpPr>
        <p:spPr>
          <a:xfrm>
            <a:off x="786384" y="2432304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500" b="1">
                <a:solidFill>
                  <a:srgbClr val="D9534F"/>
                </a:solidFill>
                <a:latin typeface="Calibri"/>
              </a:rPr>
              <a:t>02</a:t>
            </a:r>
            <a:endParaRPr lang="vi-VN"/>
          </a:p>
        </p:txBody>
      </p:sp>
      <p:sp>
        <p:nvSpPr>
          <p:cNvPr id="8" name="Step title 02"/>
          <p:cNvSpPr txBox="1"/>
          <p:nvPr/>
        </p:nvSpPr>
        <p:spPr>
          <a:xfrm>
            <a:off x="1554480" y="2432304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200" b="1">
                <a:solidFill>
                  <a:srgbClr val="18212B"/>
                </a:solidFill>
                <a:latin typeface="Calibri"/>
              </a:rPr>
              <a:t>Lọc chung</a:t>
            </a:r>
            <a:endParaRPr lang="vi-VN"/>
          </a:p>
        </p:txBody>
      </p:sp>
      <p:sp>
        <p:nvSpPr>
          <p:cNvPr id="9" name="Step detail 02"/>
          <p:cNvSpPr txBox="1"/>
          <p:nvPr/>
        </p:nvSpPr>
        <p:spPr>
          <a:xfrm>
            <a:off x="4617720" y="2432304"/>
            <a:ext cx="6729984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Một tập khách được dùng đồng thời cho KPI và các biểu đồ.</a:t>
            </a:r>
            <a:endParaRPr lang="vi-VN"/>
          </a:p>
        </p:txBody>
      </p:sp>
      <p:sp>
        <p:nvSpPr>
          <p:cNvPr id="10" name="Step 03"/>
          <p:cNvSpPr txBox="1"/>
          <p:nvPr/>
        </p:nvSpPr>
        <p:spPr>
          <a:xfrm>
            <a:off x="786384" y="3520440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500" b="1">
                <a:solidFill>
                  <a:srgbClr val="D9534F"/>
                </a:solidFill>
                <a:latin typeface="Calibri"/>
              </a:rPr>
              <a:t>03</a:t>
            </a:r>
            <a:endParaRPr lang="vi-VN"/>
          </a:p>
        </p:txBody>
      </p:sp>
      <p:sp>
        <p:nvSpPr>
          <p:cNvPr id="11" name="Step title 03"/>
          <p:cNvSpPr txBox="1"/>
          <p:nvPr/>
        </p:nvSpPr>
        <p:spPr>
          <a:xfrm>
            <a:off x="1554480" y="352044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200" b="1">
                <a:solidFill>
                  <a:srgbClr val="18212B"/>
                </a:solidFill>
                <a:latin typeface="Calibri"/>
              </a:rPr>
              <a:t>Thống kê mô tả</a:t>
            </a:r>
            <a:endParaRPr lang="vi-VN"/>
          </a:p>
        </p:txBody>
      </p:sp>
      <p:sp>
        <p:nvSpPr>
          <p:cNvPr id="12" name="Step detail 03"/>
          <p:cNvSpPr txBox="1"/>
          <p:nvPr/>
        </p:nvSpPr>
        <p:spPr>
          <a:xfrm>
            <a:off x="4617720" y="3520440"/>
            <a:ext cx="6729984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Đếm khách, median, mean, tỷ lệ trong nhóm và boxplot.</a:t>
            </a:r>
            <a:endParaRPr lang="vi-VN"/>
          </a:p>
        </p:txBody>
      </p:sp>
      <p:sp>
        <p:nvSpPr>
          <p:cNvPr id="13" name="Step 04"/>
          <p:cNvSpPr txBox="1"/>
          <p:nvPr/>
        </p:nvSpPr>
        <p:spPr>
          <a:xfrm>
            <a:off x="786384" y="4608576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500" b="1">
                <a:solidFill>
                  <a:srgbClr val="D9534F"/>
                </a:solidFill>
                <a:latin typeface="Calibri"/>
              </a:rPr>
              <a:t>04</a:t>
            </a:r>
            <a:endParaRPr lang="vi-VN"/>
          </a:p>
        </p:txBody>
      </p:sp>
      <p:sp>
        <p:nvSpPr>
          <p:cNvPr id="14" name="Step title 04"/>
          <p:cNvSpPr txBox="1"/>
          <p:nvPr/>
        </p:nvSpPr>
        <p:spPr>
          <a:xfrm>
            <a:off x="1554480" y="4608576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200" b="1">
                <a:solidFill>
                  <a:srgbClr val="18212B"/>
                </a:solidFill>
                <a:latin typeface="Calibri"/>
              </a:rPr>
              <a:t>Phân vùng có quy tắc</a:t>
            </a:r>
            <a:endParaRPr lang="vi-VN"/>
          </a:p>
        </p:txBody>
      </p:sp>
      <p:sp>
        <p:nvSpPr>
          <p:cNvPr id="15" name="Step detail 04"/>
          <p:cNvSpPr txBox="1"/>
          <p:nvPr/>
        </p:nvSpPr>
        <p:spPr>
          <a:xfrm>
            <a:off x="4617720" y="4608576"/>
            <a:ext cx="6729984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Ngưỡng chi tiêu 775,2 và 23 ngày lấy từ toàn bộ dữ liệu sạch.</a:t>
            </a:r>
            <a:endParaRPr lang="vi-VN"/>
          </a:p>
        </p:txBody>
      </p:sp>
      <p:sp>
        <p:nvSpPr>
          <p:cNvPr id="16" name="Caution"/>
          <p:cNvSpPr txBox="1"/>
          <p:nvPr/>
        </p:nvSpPr>
        <p:spPr>
          <a:xfrm>
            <a:off x="868680" y="5897880"/>
            <a:ext cx="1042416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600">
                <a:solidFill>
                  <a:srgbClr val="4B5563"/>
                </a:solidFill>
                <a:latin typeface="Calibri"/>
              </a:rPr>
              <a:t>Các khác biệt quan sát được không chứng minh quan hệ nhân quả hoặc dự đoán rời bỏ.</a:t>
            </a:r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4. Phân tích thăm dò: hạng thành viên và chi tiêu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pic>
        <p:nvPicPr>
          <p:cNvPr id="4" name="CH03 membership don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88379"/>
            <a:ext cx="3977640" cy="2961202"/>
          </a:xfrm>
          <a:prstGeom prst="rect">
            <a:avLst/>
          </a:prstGeom>
        </p:spPr>
      </p:pic>
      <p:pic>
        <p:nvPicPr>
          <p:cNvPr id="5" name="CH05 spend by membersh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362072"/>
            <a:ext cx="6885432" cy="3740664"/>
          </a:xfrm>
          <a:prstGeom prst="rect">
            <a:avLst/>
          </a:prstGeom>
        </p:spPr>
      </p:pic>
      <p:sp>
        <p:nvSpPr>
          <p:cNvPr id="6" name="Membership explanation"/>
          <p:cNvSpPr txBox="1"/>
          <p:nvPr/>
        </p:nvSpPr>
        <p:spPr>
          <a:xfrm>
            <a:off x="749808" y="5413248"/>
            <a:ext cx="10561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800">
                <a:solidFill>
                  <a:srgbClr val="18212B"/>
                </a:solidFill>
                <a:latin typeface="Calibri"/>
              </a:rPr>
              <a:t>Bronze, Silver và Gold có quy mô gần bằng nhau: 116, 117 và 117 khách.</a:t>
            </a:r>
            <a:endParaRPr lang="vi-VN"/>
          </a:p>
        </p:txBody>
      </p:sp>
      <p:sp>
        <p:nvSpPr>
          <p:cNvPr id="7" name="Membership finding"/>
          <p:cNvSpPr txBox="1"/>
          <p:nvPr/>
        </p:nvSpPr>
        <p:spPr>
          <a:xfrm>
            <a:off x="749808" y="5833872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700">
                <a:solidFill>
                  <a:srgbClr val="4B5563"/>
                </a:solidFill>
                <a:latin typeface="Calibri"/>
              </a:rPr>
              <a:t>Median chi tiêu: Gold 1.210,6; Silver 770,2; Bronze 475,25 (đơn vị chưa xác định).</a:t>
            </a:r>
            <a:endParaRPr lang="vi-V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4. Phân tích thăm dò: phân vùng để giữ chân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pic>
        <p:nvPicPr>
          <p:cNvPr id="4" name="CH07 customer seg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529" y="1143000"/>
            <a:ext cx="8443038" cy="4553712"/>
          </a:xfrm>
          <a:prstGeom prst="rect">
            <a:avLst/>
          </a:prstGeom>
        </p:spPr>
      </p:pic>
      <p:sp>
        <p:nvSpPr>
          <p:cNvPr id="5" name="Retention finding"/>
          <p:cNvSpPr txBox="1"/>
          <p:nvPr/>
        </p:nvSpPr>
        <p:spPr>
          <a:xfrm>
            <a:off x="749808" y="5733288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 b="1">
                <a:solidFill>
                  <a:srgbClr val="18212B"/>
                </a:solidFill>
                <a:latin typeface="Calibri"/>
              </a:rPr>
              <a:t>32 khách chi tiêu cao nhưng mua đã lâu là nhóm ưu tiên tái kích hoạt.</a:t>
            </a:r>
            <a:endParaRPr lang="vi-VN"/>
          </a:p>
        </p:txBody>
      </p:sp>
      <p:sp>
        <p:nvSpPr>
          <p:cNvPr id="6" name="Retention caveat"/>
          <p:cNvSpPr txBox="1"/>
          <p:nvPr/>
        </p:nvSpPr>
        <p:spPr>
          <a:xfrm>
            <a:off x="749808" y="612648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500">
                <a:solidFill>
                  <a:srgbClr val="4B5563"/>
                </a:solidFill>
                <a:latin typeface="Calibri"/>
              </a:rPr>
              <a:t>Ngưỡng: 775,2 chi tiêu và 23 ngày; đây là phân nhóm mô tả.</a:t>
            </a:r>
            <a:endParaRPr lang="vi-V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4. Phân tích thăm dò: mức độ hài lòng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pic>
        <p:nvPicPr>
          <p:cNvPr id="4" name="CH08 satisfaction by membersh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575" y="1115568"/>
            <a:ext cx="8438657" cy="4590288"/>
          </a:xfrm>
          <a:prstGeom prst="rect">
            <a:avLst/>
          </a:prstGeom>
        </p:spPr>
      </p:pic>
      <p:sp>
        <p:nvSpPr>
          <p:cNvPr id="5" name="Satisfaction finding"/>
          <p:cNvSpPr txBox="1"/>
          <p:nvPr/>
        </p:nvSpPr>
        <p:spPr>
          <a:xfrm>
            <a:off x="749808" y="5733288"/>
            <a:ext cx="10680192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 b="1">
                <a:solidFill>
                  <a:srgbClr val="18212B"/>
                </a:solidFill>
                <a:latin typeface="Calibri"/>
              </a:rPr>
              <a:t>Gold: 100% hài lòng; Silver: 6,8%; Bronze: 0% trong số khách có dữ liệu hợp lệ.</a:t>
            </a:r>
            <a:endParaRPr lang="vi-VN"/>
          </a:p>
        </p:txBody>
      </p:sp>
      <p:sp>
        <p:nvSpPr>
          <p:cNvPr id="6" name="Satisfaction denominator"/>
          <p:cNvSpPr txBox="1"/>
          <p:nvPr/>
        </p:nvSpPr>
        <p:spPr>
          <a:xfrm>
            <a:off x="749808" y="6144768"/>
            <a:ext cx="10652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500">
                <a:solidFill>
                  <a:srgbClr val="4B5563"/>
                </a:solidFill>
                <a:latin typeface="Calibri"/>
              </a:rPr>
              <a:t>Tỷ lệ được tính riêng trong từng hạng; 2 khách Bronze thiếu mức hài lòng.</a:t>
            </a:r>
            <a:endParaRPr lang="vi-V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4. Phân tích thăm dò: tình trạng giảm giá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pic>
        <p:nvPicPr>
          <p:cNvPr id="4" name="CH09 discount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481" y="1124712"/>
            <a:ext cx="9934845" cy="4526280"/>
          </a:xfrm>
          <a:prstGeom prst="rect">
            <a:avLst/>
          </a:prstGeom>
        </p:spPr>
      </p:pic>
      <p:sp>
        <p:nvSpPr>
          <p:cNvPr id="5" name="Discount finding"/>
          <p:cNvSpPr txBox="1"/>
          <p:nvPr/>
        </p:nvSpPr>
        <p:spPr>
          <a:xfrm>
            <a:off x="749808" y="5724144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800" b="1">
                <a:solidFill>
                  <a:srgbClr val="18212B"/>
                </a:solidFill>
                <a:latin typeface="Calibri"/>
              </a:rPr>
              <a:t>Median chi tiêu: không giảm giá 800,9; có giảm giá 690,6. Cả hai nhóm mua median 12 sản phẩm.</a:t>
            </a:r>
            <a:endParaRPr lang="vi-VN"/>
          </a:p>
        </p:txBody>
      </p:sp>
      <p:sp>
        <p:nvSpPr>
          <p:cNvPr id="6" name="Discount caveat"/>
          <p:cNvSpPr txBox="1"/>
          <p:nvPr/>
        </p:nvSpPr>
        <p:spPr>
          <a:xfrm>
            <a:off x="749808" y="615391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500">
                <a:solidFill>
                  <a:srgbClr val="4B5563"/>
                </a:solidFill>
                <a:latin typeface="Calibri"/>
              </a:rPr>
              <a:t>Đây là so sánh quan sát; dữ liệu không cho phép kết luận giảm giá gây ra khác biệt.</a:t>
            </a:r>
            <a:endParaRPr lang="vi-V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4. Phân tích thăm dò: hành vi theo thành phố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pic>
        <p:nvPicPr>
          <p:cNvPr id="4" name="CH10 city behavior profi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82" y="1097280"/>
            <a:ext cx="8828532" cy="4645152"/>
          </a:xfrm>
          <a:prstGeom prst="rect">
            <a:avLst/>
          </a:prstGeom>
        </p:spPr>
      </p:pic>
      <p:sp>
        <p:nvSpPr>
          <p:cNvPr id="5" name="City finding"/>
          <p:cNvSpPr txBox="1"/>
          <p:nvPr/>
        </p:nvSpPr>
        <p:spPr>
          <a:xfrm>
            <a:off x="749808" y="5760720"/>
            <a:ext cx="10671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800" b="1">
                <a:solidFill>
                  <a:srgbClr val="18212B"/>
                </a:solidFill>
                <a:latin typeface="Calibri"/>
              </a:rPr>
              <a:t>San Francisco có median chi tiêu 1.470,5 và median 11 ngày chưa mua trong tập dữ liệu.</a:t>
            </a:r>
            <a:endParaRPr lang="vi-VN"/>
          </a:p>
        </p:txBody>
      </p:sp>
      <p:sp>
        <p:nvSpPr>
          <p:cNvPr id="6" name="City color legend"/>
          <p:cNvSpPr txBox="1"/>
          <p:nvPr/>
        </p:nvSpPr>
        <p:spPr>
          <a:xfrm>
            <a:off x="749808" y="6144768"/>
            <a:ext cx="10671048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500">
                <a:solidFill>
                  <a:srgbClr val="4B5563"/>
                </a:solidFill>
                <a:latin typeface="Calibri"/>
              </a:rPr>
              <a:t>Số trong ô là giá trị thực; màu được chuẩn hóa riêng cho từng chỉ tiêu.</a:t>
            </a:r>
            <a:endParaRPr lang="vi-V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5. Kết quả đạt được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sp>
        <p:nvSpPr>
          <p:cNvPr id="4" name="Finding label 0"/>
          <p:cNvSpPr txBox="1"/>
          <p:nvPr/>
        </p:nvSpPr>
        <p:spPr>
          <a:xfrm>
            <a:off x="768096" y="13350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 b="1">
                <a:solidFill>
                  <a:srgbClr val="D9534F"/>
                </a:solidFill>
                <a:latin typeface="Calibri"/>
              </a:rPr>
              <a:t>Phân khúc</a:t>
            </a:r>
            <a:endParaRPr lang="vi-VN"/>
          </a:p>
        </p:txBody>
      </p:sp>
      <p:sp>
        <p:nvSpPr>
          <p:cNvPr id="5" name="Finding detail 0"/>
          <p:cNvSpPr txBox="1"/>
          <p:nvPr/>
        </p:nvSpPr>
        <p:spPr>
          <a:xfrm>
            <a:off x="2798064" y="1335024"/>
            <a:ext cx="8604504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Gold có median chi tiêu cao nhất: 1.210,6.</a:t>
            </a:r>
            <a:endParaRPr lang="vi-VN"/>
          </a:p>
        </p:txBody>
      </p:sp>
      <p:sp>
        <p:nvSpPr>
          <p:cNvPr id="6" name="Finding label 1"/>
          <p:cNvSpPr txBox="1"/>
          <p:nvPr/>
        </p:nvSpPr>
        <p:spPr>
          <a:xfrm>
            <a:off x="768096" y="22494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 b="1">
                <a:solidFill>
                  <a:srgbClr val="D9534F"/>
                </a:solidFill>
                <a:latin typeface="Calibri"/>
              </a:rPr>
              <a:t>Hài lòng</a:t>
            </a:r>
            <a:endParaRPr lang="vi-VN"/>
          </a:p>
        </p:txBody>
      </p:sp>
      <p:sp>
        <p:nvSpPr>
          <p:cNvPr id="7" name="Finding detail 1"/>
          <p:cNvSpPr txBox="1"/>
          <p:nvPr/>
        </p:nvSpPr>
        <p:spPr>
          <a:xfrm>
            <a:off x="2798064" y="2249424"/>
            <a:ext cx="8604504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Gold đạt 100% hài lòng trong 117 khách có mức hợp lệ.</a:t>
            </a:r>
            <a:endParaRPr lang="vi-VN"/>
          </a:p>
        </p:txBody>
      </p:sp>
      <p:sp>
        <p:nvSpPr>
          <p:cNvPr id="8" name="Finding label 2"/>
          <p:cNvSpPr txBox="1"/>
          <p:nvPr/>
        </p:nvSpPr>
        <p:spPr>
          <a:xfrm>
            <a:off x="768096" y="31638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 b="1">
                <a:solidFill>
                  <a:srgbClr val="D9534F"/>
                </a:solidFill>
                <a:latin typeface="Calibri"/>
              </a:rPr>
              <a:t>Khuyến mãi</a:t>
            </a:r>
            <a:endParaRPr lang="vi-VN"/>
          </a:p>
        </p:txBody>
      </p:sp>
      <p:sp>
        <p:nvSpPr>
          <p:cNvPr id="9" name="Finding detail 2"/>
          <p:cNvSpPr txBox="1"/>
          <p:nvPr/>
        </p:nvSpPr>
        <p:spPr>
          <a:xfrm>
            <a:off x="2798064" y="3163824"/>
            <a:ext cx="8604504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Nhóm không giảm giá có median chi tiêu cao hơn 110,3.</a:t>
            </a:r>
            <a:endParaRPr lang="vi-VN"/>
          </a:p>
        </p:txBody>
      </p:sp>
      <p:sp>
        <p:nvSpPr>
          <p:cNvPr id="10" name="Finding label 3"/>
          <p:cNvSpPr txBox="1"/>
          <p:nvPr/>
        </p:nvSpPr>
        <p:spPr>
          <a:xfrm>
            <a:off x="768096" y="40782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 b="1">
                <a:solidFill>
                  <a:srgbClr val="D9534F"/>
                </a:solidFill>
                <a:latin typeface="Calibri"/>
              </a:rPr>
              <a:t>Giữ chân</a:t>
            </a:r>
            <a:endParaRPr lang="vi-VN"/>
          </a:p>
        </p:txBody>
      </p:sp>
      <p:sp>
        <p:nvSpPr>
          <p:cNvPr id="11" name="Finding detail 3"/>
          <p:cNvSpPr txBox="1"/>
          <p:nvPr/>
        </p:nvSpPr>
        <p:spPr>
          <a:xfrm>
            <a:off x="2798064" y="4078224"/>
            <a:ext cx="8604504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32 khách chi tiêu cao, mua đã lâu cần được ưu tiên tiếp cận.</a:t>
            </a:r>
            <a:endParaRPr lang="vi-VN"/>
          </a:p>
        </p:txBody>
      </p:sp>
      <p:sp>
        <p:nvSpPr>
          <p:cNvPr id="12" name="Finding label 4"/>
          <p:cNvSpPr txBox="1"/>
          <p:nvPr/>
        </p:nvSpPr>
        <p:spPr>
          <a:xfrm>
            <a:off x="768096" y="49926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 b="1">
                <a:solidFill>
                  <a:srgbClr val="D9534F"/>
                </a:solidFill>
                <a:latin typeface="Calibri"/>
              </a:rPr>
              <a:t>Thành phố</a:t>
            </a:r>
            <a:endParaRPr lang="vi-VN"/>
          </a:p>
        </p:txBody>
      </p:sp>
      <p:sp>
        <p:nvSpPr>
          <p:cNvPr id="13" name="Finding detail 4"/>
          <p:cNvSpPr txBox="1"/>
          <p:nvPr/>
        </p:nvSpPr>
        <p:spPr>
          <a:xfrm>
            <a:off x="2798064" y="4992624"/>
            <a:ext cx="8604504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900">
                <a:solidFill>
                  <a:srgbClr val="18212B"/>
                </a:solidFill>
                <a:latin typeface="Calibri"/>
              </a:rPr>
              <a:t>San Francisco dẫn đầu median chi tiêu; thời gian từ lần mua gần nhất thấp nhất.</a:t>
            </a:r>
            <a:endParaRPr lang="vi-VN"/>
          </a:p>
        </p:txBody>
      </p:sp>
      <p:sp>
        <p:nvSpPr>
          <p:cNvPr id="14" name="Limits"/>
          <p:cNvSpPr txBox="1"/>
          <p:nvPr/>
        </p:nvSpPr>
        <p:spPr>
          <a:xfrm>
            <a:off x="777240" y="5989320"/>
            <a:ext cx="106619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500">
                <a:solidFill>
                  <a:srgbClr val="4B5563"/>
                </a:solidFill>
                <a:latin typeface="Calibri"/>
              </a:rPr>
              <a:t>Giới hạn: chưa có ngày giao dịch, giá trị giảm giá và lịch sử mua lặp lại; các kết quả là mô tả.</a:t>
            </a:r>
            <a:endParaRPr lang="vi-V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658368" y="329184"/>
            <a:ext cx="108813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900" b="1">
                <a:solidFill>
                  <a:srgbClr val="18212B"/>
                </a:solidFill>
                <a:latin typeface="Calibri"/>
              </a:rPr>
              <a:t>6. Demo dashboard</a:t>
            </a:r>
            <a:endParaRPr lang="vi-VN"/>
          </a:p>
        </p:txBody>
      </p:sp>
      <p:sp>
        <p:nvSpPr>
          <p:cNvPr id="3" name="Section rule"/>
          <p:cNvSpPr txBox="1"/>
          <p:nvPr/>
        </p:nvSpPr>
        <p:spPr>
          <a:xfrm>
            <a:off x="658368" y="896112"/>
            <a:ext cx="10844784" cy="11887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000">
                <a:solidFill>
                  <a:srgbClr val="D9534F"/>
                </a:solidFill>
                <a:latin typeface="Calibri"/>
              </a:rPr>
              <a:t>━━━━━━━━━━━━━━━━━━━━━━━━━━━━━━━━━━━━━━━━━━</a:t>
            </a:r>
            <a:endParaRPr lang="vi-VN"/>
          </a:p>
        </p:txBody>
      </p:sp>
      <p:sp>
        <p:nvSpPr>
          <p:cNvPr id="4" name="Demo timing"/>
          <p:cNvSpPr txBox="1"/>
          <p:nvPr/>
        </p:nvSpPr>
        <p:spPr>
          <a:xfrm>
            <a:off x="758952" y="1371600"/>
            <a:ext cx="10643616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600" b="1">
                <a:solidFill>
                  <a:srgbClr val="18212B"/>
                </a:solidFill>
                <a:latin typeface="Calibri"/>
              </a:rPr>
              <a:t>5 phút: đi từ toàn bộ dữ liệu đến một nhóm khách cụ thể</a:t>
            </a:r>
            <a:endParaRPr lang="vi-VN"/>
          </a:p>
        </p:txBody>
      </p:sp>
      <p:sp>
        <p:nvSpPr>
          <p:cNvPr id="5" name="Demo step 1"/>
          <p:cNvSpPr txBox="1"/>
          <p:nvPr/>
        </p:nvSpPr>
        <p:spPr>
          <a:xfrm>
            <a:off x="877824" y="2148840"/>
            <a:ext cx="103875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1. Mở dashboard và xác nhận 350 khách cùng 6 KPI.</a:t>
            </a:r>
            <a:endParaRPr lang="vi-VN"/>
          </a:p>
        </p:txBody>
      </p:sp>
      <p:sp>
        <p:nvSpPr>
          <p:cNvPr id="6" name="Demo step 2"/>
          <p:cNvSpPr txBox="1"/>
          <p:nvPr/>
        </p:nvSpPr>
        <p:spPr>
          <a:xfrm>
            <a:off x="877824" y="2916936"/>
            <a:ext cx="103875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2. Chọn New York: còn 59 khách; quan sát CH10 và các KPI đổi theo lọc.</a:t>
            </a:r>
            <a:endParaRPr lang="vi-VN"/>
          </a:p>
        </p:txBody>
      </p:sp>
      <p:sp>
        <p:nvSpPr>
          <p:cNvPr id="7" name="Demo step 3"/>
          <p:cNvSpPr txBox="1"/>
          <p:nvPr/>
        </p:nvSpPr>
        <p:spPr>
          <a:xfrm>
            <a:off x="877824" y="3685032"/>
            <a:ext cx="103875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3. Chọn hạng thành viên hoặc trạng thái giảm giá để xem CH07–CH09.</a:t>
            </a:r>
            <a:endParaRPr lang="vi-VN"/>
          </a:p>
        </p:txBody>
      </p:sp>
      <p:sp>
        <p:nvSpPr>
          <p:cNvPr id="8" name="Demo step 4"/>
          <p:cNvSpPr txBox="1"/>
          <p:nvPr/>
        </p:nvSpPr>
        <p:spPr>
          <a:xfrm>
            <a:off x="877824" y="4453128"/>
            <a:ext cx="10387584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2000">
                <a:solidFill>
                  <a:srgbClr val="18212B"/>
                </a:solidFill>
                <a:latin typeface="Calibri"/>
              </a:rPr>
              <a:t>4. Đặt lại bộ lọc và nhắc lại giới hạn: đây là phân tích mô tả.</a:t>
            </a:r>
            <a:endParaRPr lang="vi-VN"/>
          </a:p>
        </p:txBody>
      </p:sp>
      <p:sp>
        <p:nvSpPr>
          <p:cNvPr id="9" name="Demo command"/>
          <p:cNvSpPr txBox="1"/>
          <p:nvPr/>
        </p:nvSpPr>
        <p:spPr>
          <a:xfrm>
            <a:off x="877824" y="5824728"/>
            <a:ext cx="10378440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vi-VN" sz="1600">
                <a:solidFill>
                  <a:srgbClr val="4B5563"/>
                </a:solidFill>
                <a:latin typeface="Calibri"/>
              </a:rPr>
              <a:t>Chạy từ thư mục dự án: python3 -m streamlit run dashboard.py</a:t>
            </a:r>
            <a:endParaRPr lang="vi-V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BA54-9739-4AD5-BC58-14912BF8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1E2B-C9E9-491E-BCE6-BE7BD48FC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2799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345</ns0:TotalTime>
  <ns0:Words>200</ns0:Words>
  <ns0:Application>Microsoft Office PowerPoint</ns0:Application>
  <ns0:PresentationFormat>Widescreen</ns0:PresentationFormat>
  <ns0:Paragraphs>49</ns0:Paragraphs>
  <ns0:Slides>13</ns0:Slides>
  <ns0:Notes>0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9</ns1:i4>
      </ns1:variant>
    </ns1:vector>
  </ns0:HeadingPairs>
  <ns0:TitlesOfParts>
    <ns1:vector size="13" baseType="lpstr">
      <ns1:lpstr>Arial</ns1:lpstr>
      <ns1:lpstr>Calibri</ns1:lpstr>
      <ns1:lpstr>Calibri Light</ns1:lpstr>
      <ns1:lpstr>Office Theme</ns1:lpstr>
      <ns1:lpstr>TRƯỜNG ĐẠI HỌC CNTT KHOA …</ns1:lpstr>
      <ns1:lpstr>Giới thiệu nhóm (nếu có, không bắt buộc)</ns1:lpstr>
      <ns1:lpstr>Nội dung</ns1:lpstr>
      <ns1:lpstr>1. Giới thiệu</ns1:lpstr>
      <ns1:lpstr>2. Mô tả bộ dữ liệu</ns1:lpstr>
      <ns1:lpstr>3. Nội dung ……</ns1:lpstr>
      <ns1:lpstr>3. Kết quả</ns1:lpstr>
      <ns1:lpstr>PowerPoint Presentation</ns1:lpstr>
      <ns1:lpstr>PowerPoint Presentation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QUỐC THẾ HỒNG BÀNG KHOA CÔNG NGHỆ THÔNG TIN</dc:title>
  <dc:creator>Phạm Thế Sơn</dc:creator>
  <cp:lastModifiedBy>Phạm Thế Sơn (Giảng viên)</cp:lastModifiedBy>
  <cp:revision>13</cp:revision>
  <dcterms:created xsi:type="dcterms:W3CDTF">2019-05-29T02:00:47Z</dcterms:created>
  <dcterms:modified xsi:type="dcterms:W3CDTF">2026-01-06T13:09:26Z</dcterms:modified>
</cp:coreProperties>
</file>